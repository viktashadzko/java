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25"/>
  </p:notesMasterIdLst>
  <p:handoutMasterIdLst>
    <p:handoutMasterId r:id="rId26"/>
  </p:handoutMasterIdLst>
  <p:sldIdLst>
    <p:sldId id="315" r:id="rId5"/>
    <p:sldId id="317" r:id="rId6"/>
    <p:sldId id="316" r:id="rId7"/>
    <p:sldId id="266" r:id="rId8"/>
    <p:sldId id="318" r:id="rId9"/>
    <p:sldId id="322" r:id="rId10"/>
    <p:sldId id="321" r:id="rId11"/>
    <p:sldId id="326" r:id="rId12"/>
    <p:sldId id="333" r:id="rId13"/>
    <p:sldId id="323" r:id="rId14"/>
    <p:sldId id="319" r:id="rId15"/>
    <p:sldId id="320" r:id="rId16"/>
    <p:sldId id="327" r:id="rId17"/>
    <p:sldId id="328" r:id="rId18"/>
    <p:sldId id="329" r:id="rId19"/>
    <p:sldId id="330" r:id="rId20"/>
    <p:sldId id="324" r:id="rId21"/>
    <p:sldId id="325" r:id="rId22"/>
    <p:sldId id="331" r:id="rId23"/>
    <p:sldId id="33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06E6C-13A6-43A8-8C86-66616D5E810C}" v="3" dt="2025-10-13T19:30:39.308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6D2F-A471-FC16-0EDC-C463D1A1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6CFC1-6FD9-8B84-C700-B8BF65264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C612F-3665-ECCF-15BA-A3B438AC7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FD09-FC09-24CB-8D02-9C49DD1C4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9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5162C-CF2D-8C92-9680-36560D0C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71907-0D03-867C-D264-AD749C80E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4F554-2192-FAA3-5A07-43D099B91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0466F-8480-A0AC-B707-1839A232D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64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D18A-007D-B21D-8B7B-BB3FD9AD2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7CD06-46CC-9300-0428-214ECACC9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D063B-1199-E987-C63D-847349ABB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AC994-F920-1B6E-19B4-A26CA3979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069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22929-E3D0-9237-4FB2-04992AA2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B9904-00BC-28E7-5657-F89E89F1F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1FEF4-AFE7-6C98-CC51-8D1685988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EBF0E-C0E3-D99E-DB06-5440C5BF9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55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9AB0-8916-4A7A-ED20-9D4CBDF1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CD58D-2210-1D53-BCD1-461402AC6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5B5D0-F409-608E-E583-FA9336A7D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EDBA4-1928-DFA3-8E2D-5B138D10E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11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CC66-321C-2CF4-FEEB-0942B2D9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97E2A-96AF-2FFD-75AD-5B506423F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24929-E050-482B-DEB3-F67C0555D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AD882-3C39-664B-2B66-2C96C88B7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9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82" r:id="rId13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Spring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19DD-AF9A-5B24-96E2-7AB6FA89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F530D-3B51-B008-DDCB-82D34B438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453" y="2144985"/>
            <a:ext cx="6622819" cy="2852639"/>
          </a:xfrm>
        </p:spPr>
        <p:txBody>
          <a:bodyPr>
            <a:normAutofit/>
          </a:bodyPr>
          <a:lstStyle/>
          <a:p>
            <a:r>
              <a:rPr lang="ru-RU" dirty="0"/>
              <a:t> универсальный фреймворк с открытым исходным кодом для Java-платформы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108929-7634-9402-57AE-1E3B6CD5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32" y="293614"/>
            <a:ext cx="6623040" cy="678185"/>
          </a:xfrm>
        </p:spPr>
        <p:txBody>
          <a:bodyPr/>
          <a:lstStyle/>
          <a:p>
            <a:r>
              <a:rPr lang="en-US" dirty="0"/>
              <a:t>Spring </a:t>
            </a:r>
          </a:p>
        </p:txBody>
      </p:sp>
    </p:spTree>
    <p:extLst>
      <p:ext uri="{BB962C8B-B14F-4D97-AF65-F5344CB8AC3E}">
        <p14:creationId xmlns:p14="http://schemas.microsoft.com/office/powerpoint/2010/main" val="303951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617D-8045-8469-7161-867C7F82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12E3EC-32EE-6B7B-6CA5-D33F392327E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программная платформа, определяющая структуру программной системы; программное обеспечение, облегчающее разработку и объединение разных компонентов большого программного проекта.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D9BECD-754E-FA13-40DE-48658B48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783084"/>
            <a:ext cx="6623040" cy="1421898"/>
          </a:xfrm>
        </p:spPr>
        <p:txBody>
          <a:bodyPr/>
          <a:lstStyle/>
          <a:p>
            <a:r>
              <a:rPr lang="ru-RU" dirty="0"/>
              <a:t>Фреймворк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4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9B176A-68CD-8623-8860-D19FAA15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53909"/>
            <a:ext cx="6623040" cy="142189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2. Introduction to Spring Framework">
            <a:extLst>
              <a:ext uri="{FF2B5EF4-FFF2-40B4-BE49-F238E27FC236}">
                <a16:creationId xmlns:a16="http://schemas.microsoft.com/office/drawing/2014/main" id="{7FB9D9A1-C189-6247-1A22-A7660325C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98" y="625911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3EDA-A910-4E80-2BC8-73C4D740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8472C3-2A57-8EA1-8A7F-817F5B46FAC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Spring использует принцип IoC, который позволяет программам управлять зависимостями через контейнер. Вместо того чтобы вручную создавать объекты и управлять их зависимостями, Spring берет на себя эту задачу, благодаря Spring IoC Container. Взаимодействие между объектами конфигурируется через аннотации или XML.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BEA72A-E126-020A-F3EB-0DD1A264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244479"/>
            <a:ext cx="6623040" cy="1421898"/>
          </a:xfrm>
        </p:spPr>
        <p:txBody>
          <a:bodyPr/>
          <a:lstStyle/>
          <a:p>
            <a:r>
              <a:rPr lang="en-US" dirty="0"/>
              <a:t>IoC (Inversion of Control) — </a:t>
            </a:r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72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C96F-C492-B6A3-C68E-3DEF1900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93E8B1-15C2-AB70-9829-9ADDB15233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A6D248-5621-87CC-49D9-1BE86348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244479"/>
            <a:ext cx="6623040" cy="1421898"/>
          </a:xfrm>
        </p:spPr>
        <p:txBody>
          <a:bodyPr/>
          <a:lstStyle/>
          <a:p>
            <a:r>
              <a:rPr lang="en-US" dirty="0"/>
              <a:t>IoC (Inversion of Control) — </a:t>
            </a:r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endParaRPr lang="en-US" dirty="0"/>
          </a:p>
        </p:txBody>
      </p:sp>
      <p:pic>
        <p:nvPicPr>
          <p:cNvPr id="2050" name="Picture 2" descr="container magic">
            <a:extLst>
              <a:ext uri="{FF2B5EF4-FFF2-40B4-BE49-F238E27FC236}">
                <a16:creationId xmlns:a16="http://schemas.microsoft.com/office/drawing/2014/main" id="{7A8A0109-E112-04E0-F9A6-7E3899999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07" y="2779731"/>
            <a:ext cx="6080982" cy="36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74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26A89-2635-C1B9-F487-720EA803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674ED2-40B1-508F-2654-AB964BC1D91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 это шаблон проектирования, при котором зависимости (другие объекты, необходимые для работы класса) предоставляются извне, а не создаются самим классом. Этот подход упрощает разработку, делая код более модульным, гибким и легко тестируемым, так как объекты не зависят от способа создания своих зависимостей, а получают их от внешнего механизма. DI является частной формой инверсии управления (IoC), когда управление зависимостями передается внешнему коду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2BC2A8-3FA4-DD04-B036-CE25852D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244479"/>
            <a:ext cx="6623040" cy="1421898"/>
          </a:xfrm>
        </p:spPr>
        <p:txBody>
          <a:bodyPr/>
          <a:lstStyle/>
          <a:p>
            <a:r>
              <a:rPr lang="ru-RU" dirty="0"/>
              <a:t>Dependency Injection (DI)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0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498E1-E8D5-E678-C98E-F2AB63E8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407CC-0E48-60DF-D41B-A0EBF3FA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ApplicationContext в Spring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50D4E-2399-E724-E5E1-00A40BB959C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это основной интерфейс, который представляет собой контейнер управления зависимостями (IoC) и окружение для работы приложения. Он управляет жизненным циклом всех бинов (объектов) в приложении, их конфигурацией, созданием и внедрением зависимостей.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08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42912-50F4-7838-BC03-68CD299D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49CD-73AD-A45A-BCDA-47E75D4E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Spring Application Context Provider - Dinesh on Java">
            <a:extLst>
              <a:ext uri="{FF2B5EF4-FFF2-40B4-BE49-F238E27FC236}">
                <a16:creationId xmlns:a16="http://schemas.microsoft.com/office/drawing/2014/main" id="{6A3304D0-4FF8-871D-A10D-BDBA2BE54C9F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888" y="650240"/>
            <a:ext cx="8628223" cy="525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92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5E6F-BDE6-90B8-F0F1-358E06B4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8B35FE-DAFE-3987-E6A5-A0B3E4F30ED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это объект Java, который находится под управлением контейнера Spring IoC (инверсия управления). Он является основой приложения, создается и конфигурируется фреймворком, а затем может быть внедрен (через механизм Dependency Injection) в другие объекты для обеспечения их функциональности. По сути, это почти любой объект, используемый в Spring-приложении — сервис, контроллер или репозиторий.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80CA6-E11F-F7D7-247E-57B5D7B8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244479"/>
            <a:ext cx="6623040" cy="1421898"/>
          </a:xfrm>
        </p:spPr>
        <p:txBody>
          <a:bodyPr/>
          <a:lstStyle/>
          <a:p>
            <a:r>
              <a:rPr lang="ru-RU" dirty="0"/>
              <a:t>Spring Bean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6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E0D2-6506-C78B-B3A6-F78428D2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04709-8582-0B29-484E-22DD77F7DE4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Xml </a:t>
            </a:r>
            <a:r>
              <a:rPr lang="ru-RU" b="1" dirty="0"/>
              <a:t>конфигурация</a:t>
            </a:r>
            <a:r>
              <a:rPr lang="ru-RU" dirty="0"/>
              <a:t> — </a:t>
            </a:r>
            <a:r>
              <a:rPr lang="en-US" dirty="0" err="1"/>
              <a:t>ClassPathXmlApplicationContext</a:t>
            </a:r>
            <a:r>
              <a:rPr lang="en-US" dirty="0"/>
              <a:t>(”context.xml”);</a:t>
            </a:r>
          </a:p>
          <a:p>
            <a:r>
              <a:rPr lang="en-US" b="1" dirty="0"/>
              <a:t>Groovy </a:t>
            </a:r>
            <a:r>
              <a:rPr lang="ru-RU" b="1" dirty="0"/>
              <a:t>конфигурация</a:t>
            </a:r>
            <a:r>
              <a:rPr lang="ru-RU" dirty="0"/>
              <a:t> — </a:t>
            </a:r>
            <a:r>
              <a:rPr lang="en-US" dirty="0" err="1"/>
              <a:t>GenericGroovyApplicationContext</a:t>
            </a:r>
            <a:r>
              <a:rPr lang="en-US" dirty="0"/>
              <a:t>(”</a:t>
            </a:r>
            <a:r>
              <a:rPr lang="en-US" dirty="0" err="1"/>
              <a:t>context.groovy</a:t>
            </a:r>
            <a:r>
              <a:rPr lang="en-US" dirty="0"/>
              <a:t>”);</a:t>
            </a:r>
          </a:p>
          <a:p>
            <a:r>
              <a:rPr lang="ru-RU" b="1" dirty="0"/>
              <a:t>Конфигурация через аннотации с указанием пакета для сканирования</a:t>
            </a:r>
            <a:r>
              <a:rPr lang="ru-RU" dirty="0"/>
              <a:t> — </a:t>
            </a:r>
            <a:r>
              <a:rPr lang="en-US" dirty="0" err="1"/>
              <a:t>AnnotationConfigApplicationContext</a:t>
            </a:r>
            <a:r>
              <a:rPr lang="en-US" dirty="0"/>
              <a:t>(”package.name”);</a:t>
            </a:r>
          </a:p>
          <a:p>
            <a:r>
              <a:rPr lang="en-US" b="1" dirty="0" err="1"/>
              <a:t>JavaConfig</a:t>
            </a:r>
            <a:r>
              <a:rPr lang="en-US" dirty="0"/>
              <a:t> — </a:t>
            </a:r>
            <a:r>
              <a:rPr lang="ru-RU" dirty="0"/>
              <a:t>конфигурация через аннотации с указанием класса (или массива классов) помеченного аннотацией @</a:t>
            </a:r>
            <a:r>
              <a:rPr lang="en-US" dirty="0"/>
              <a:t>Configuration — </a:t>
            </a:r>
            <a:r>
              <a:rPr lang="en-US" dirty="0" err="1"/>
              <a:t>AnnotationConfigApplicationContext</a:t>
            </a:r>
            <a:r>
              <a:rPr lang="en-US" dirty="0"/>
              <a:t>(</a:t>
            </a:r>
            <a:r>
              <a:rPr lang="en-US" dirty="0" err="1"/>
              <a:t>JavaConfig.class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0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DFA0-8503-7118-61EB-7517CD6A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3083FC-0E89-2C54-A379-5E90B4CCC78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407237" y="822406"/>
            <a:ext cx="4774218" cy="485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72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A8C2-B956-2B66-A3E4-88ACA920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C865-996E-D41E-6EB8-896F2895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Bean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CE80C-F220-10B9-53C2-713652433E9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Singleton (</a:t>
            </a:r>
            <a:r>
              <a:rPr lang="ru-RU" b="1" dirty="0"/>
              <a:t>по умолчанию)</a:t>
            </a:r>
            <a:endParaRPr lang="ru-RU" dirty="0"/>
          </a:p>
          <a:p>
            <a:r>
              <a:rPr lang="en-US" b="1" dirty="0"/>
              <a:t>Prototype</a:t>
            </a:r>
            <a:endParaRPr lang="en-US" dirty="0"/>
          </a:p>
          <a:p>
            <a:r>
              <a:rPr lang="en-US" b="1" dirty="0"/>
              <a:t>Request</a:t>
            </a:r>
            <a:endParaRPr lang="en-US" dirty="0"/>
          </a:p>
          <a:p>
            <a:r>
              <a:rPr lang="en-US" b="1" dirty="0"/>
              <a:t>Session</a:t>
            </a:r>
            <a:endParaRPr lang="en-US" dirty="0"/>
          </a:p>
          <a:p>
            <a:r>
              <a:rPr lang="en-US" b="1" dirty="0"/>
              <a:t>Application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550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D4A1-AD92-B548-2FCE-8F332C7D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5A59-4879-DBA0-726A-C6F2F0F3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39740A-CC49-58FB-F18F-1DC3C948DA0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93124" y="352812"/>
            <a:ext cx="10664155" cy="524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32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476C-AAB0-88A6-2A6F-EAB827EF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Injection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97D6-EA68-A30C-C858-C204E00EBB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Constructor</a:t>
            </a:r>
            <a:br>
              <a:rPr lang="en-US" dirty="0"/>
            </a:br>
            <a:r>
              <a:rPr lang="en-US" dirty="0"/>
              <a:t>Setter</a:t>
            </a:r>
          </a:p>
          <a:p>
            <a:r>
              <a:rPr lang="en-US" dirty="0"/>
              <a:t>Field</a:t>
            </a:r>
          </a:p>
        </p:txBody>
      </p:sp>
    </p:spTree>
    <p:extLst>
      <p:ext uri="{BB962C8B-B14F-4D97-AF65-F5344CB8AC3E}">
        <p14:creationId xmlns:p14="http://schemas.microsoft.com/office/powerpoint/2010/main" val="166209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F6D9-CCFF-01FD-CC47-8712252E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35E3-A90B-CCD8-CE7C-A985EFA1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41" y="376849"/>
            <a:ext cx="6623040" cy="711740"/>
          </a:xfrm>
        </p:spPr>
        <p:txBody>
          <a:bodyPr/>
          <a:lstStyle/>
          <a:p>
            <a:r>
              <a:rPr lang="ru-RU" dirty="0"/>
              <a:t>@Autowired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81C8-F14F-6856-545D-4524C77A59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1300294"/>
            <a:ext cx="6622819" cy="4469117"/>
          </a:xfrm>
        </p:spPr>
        <p:txBody>
          <a:bodyPr>
            <a:normAutofit/>
          </a:bodyPr>
          <a:lstStyle/>
          <a:p>
            <a:r>
              <a:rPr lang="ru-RU" dirty="0"/>
              <a:t>Аннотация @Autowired в Spring Framework используется для автоматического внедрения зависимостей между компонентами приложения. Она автоматически связывает бины (компоненты) по типу, позволяя Spring управлять их созданием и передавать их в другие компоненты через поля, методы или конструкторы, что устраняет необходимость в ручной настройке и снижает связанность кода.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1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A18B-8695-8699-2032-8A2BCB25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0B63-82BE-AD38-E42C-FC6E6C4E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54" y="377504"/>
            <a:ext cx="6623040" cy="619461"/>
          </a:xfrm>
        </p:spPr>
        <p:txBody>
          <a:bodyPr/>
          <a:lstStyle/>
          <a:p>
            <a:r>
              <a:rPr lang="ru-RU" dirty="0"/>
              <a:t>Spring Boot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FE28B-4440-6BFD-3499-F32F091A31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62" y="1750702"/>
            <a:ext cx="6622819" cy="2852639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это расширение для Java-фреймворка Spring, которое упрощает создание автономных, готовых к производству приложений с минимальной ручной настройкой. Оно автоматизирует процесс конфигурации, предоставляет встроенные компоненты, такие как веб-серверы, и использует "стартеры" (starter-пакеты) для быстрой интеграции нужных библиотек. Основная идея — "конвенция над конфигурацией", позволяющая разработчикам сосредоточиться на бизнес-логике, а не на настройке инфраструктуры.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05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8EB3-42DC-725A-7231-05BC1467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C2FA-6B25-2989-3D76-89A640EE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54" y="377504"/>
            <a:ext cx="6623040" cy="619461"/>
          </a:xfrm>
        </p:spPr>
        <p:txBody>
          <a:bodyPr/>
          <a:lstStyle/>
          <a:p>
            <a:r>
              <a:rPr lang="ru-RU" dirty="0"/>
              <a:t>Spring Boot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914EE-C584-4ABB-CFA6-45FFEEC1EE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62" y="1750702"/>
            <a:ext cx="6622819" cy="2852639"/>
          </a:xfrm>
        </p:spPr>
        <p:txBody>
          <a:bodyPr>
            <a:normAutofit/>
          </a:bodyPr>
          <a:lstStyle/>
          <a:p>
            <a:r>
              <a:rPr lang="ru-RU" dirty="0"/>
              <a:t>Например, spring-boot-starter-web предоставляет все необходимое для создания веб-приложения, а spring-boot-starter-data-jpa — для работы с базами данных через JPA.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84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6BE4-329F-F56A-473A-3E2B4496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62218-7CAD-5788-29EB-1C06AB9E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54" y="377504"/>
            <a:ext cx="6623040" cy="619461"/>
          </a:xfrm>
        </p:spPr>
        <p:txBody>
          <a:bodyPr/>
          <a:lstStyle/>
          <a:p>
            <a:r>
              <a:rPr lang="ru-RU" dirty="0"/>
              <a:t>Spring Boot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7E28F-9324-B6AB-BAC3-3F67BE37EC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62" y="1750702"/>
            <a:ext cx="6622819" cy="285263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8E32A-9943-A253-35A1-605A42BF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66" y="2037767"/>
            <a:ext cx="11630868" cy="33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93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F590-BD4F-BD92-6B22-ED076757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4BCD3-4B21-A628-84FD-0285B3EE68E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787178" y="1625601"/>
            <a:ext cx="9901023" cy="306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76585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{57838923-1070-4CF6-978B-D602B9CB16ED}TF2b9189fa-8f70-44c5-a025-8c7b018ae2a95a18b6f7_win32-f1ac09ee8c52</Template>
  <TotalTime>2367</TotalTime>
  <Words>513</Words>
  <Application>Microsoft Office PowerPoint</Application>
  <PresentationFormat>Widescreen</PresentationFormat>
  <Paragraphs>42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Meiryo</vt:lpstr>
      <vt:lpstr>Calibri</vt:lpstr>
      <vt:lpstr>Corbel</vt:lpstr>
      <vt:lpstr>ShojiVTI</vt:lpstr>
      <vt:lpstr>Spring</vt:lpstr>
      <vt:lpstr>Spring </vt:lpstr>
      <vt:lpstr>Фреймворк</vt:lpstr>
      <vt:lpstr>PowerPoint Presentation</vt:lpstr>
      <vt:lpstr>IoC (Inversion of Control) — Инверсия управления</vt:lpstr>
      <vt:lpstr>IoC (Inversion of Control) — Инверсия управления</vt:lpstr>
      <vt:lpstr>Dependency Injection (DI)</vt:lpstr>
      <vt:lpstr>ApplicationContext в Spring</vt:lpstr>
      <vt:lpstr>PowerPoint Presentation</vt:lpstr>
      <vt:lpstr>Spring Bean</vt:lpstr>
      <vt:lpstr>PowerPoint Presentation</vt:lpstr>
      <vt:lpstr>PowerPoint Presentation</vt:lpstr>
      <vt:lpstr>Spring Bean</vt:lpstr>
      <vt:lpstr>PowerPoint Presentation</vt:lpstr>
      <vt:lpstr>Injection Type</vt:lpstr>
      <vt:lpstr>@Autowired</vt:lpstr>
      <vt:lpstr>Spring Boot</vt:lpstr>
      <vt:lpstr>Spring Boot</vt:lpstr>
      <vt:lpstr>Spring Boot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Viktar Shadzko</dc:creator>
  <cp:lastModifiedBy>Viktar Shadzko</cp:lastModifiedBy>
  <cp:revision>2</cp:revision>
  <dcterms:created xsi:type="dcterms:W3CDTF">2025-10-11T18:14:49Z</dcterms:created>
  <dcterms:modified xsi:type="dcterms:W3CDTF">2026-01-08T08:22:00Z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